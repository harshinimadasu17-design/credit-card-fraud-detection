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Madasu" userId="d18c94f727419cfa" providerId="LiveId" clId="{BD3FDC07-9796-47DB-BDD4-0EEB27313D23}"/>
    <pc:docChg chg="modSld">
      <pc:chgData name="Harshini Madasu" userId="d18c94f727419cfa" providerId="LiveId" clId="{BD3FDC07-9796-47DB-BDD4-0EEB27313D23}" dt="2026-06-17T06:18:51.271" v="12" actId="20577"/>
      <pc:docMkLst>
        <pc:docMk/>
      </pc:docMkLst>
      <pc:sldChg chg="modSp mod">
        <pc:chgData name="Harshini Madasu" userId="d18c94f727419cfa" providerId="LiveId" clId="{BD3FDC07-9796-47DB-BDD4-0EEB27313D23}" dt="2026-06-17T06:18:51.271" v="12" actId="20577"/>
        <pc:sldMkLst>
          <pc:docMk/>
          <pc:sldMk cId="1583463451" sldId="259"/>
        </pc:sldMkLst>
        <pc:spChg chg="mod">
          <ac:chgData name="Harshini Madasu" userId="d18c94f727419cfa" providerId="LiveId" clId="{BD3FDC07-9796-47DB-BDD4-0EEB27313D23}" dt="2026-06-17T06:18:51.271" v="12" actId="20577"/>
          <ac:spMkLst>
            <pc:docMk/>
            <pc:sldMk cId="1583463451" sldId="259"/>
            <ac:spMk id="6" creationId="{8147713D-1364-5B10-F070-63DDD8BF8E6B}"/>
          </ac:spMkLst>
        </pc:spChg>
      </pc:sldChg>
      <pc:sldChg chg="modSp mod">
        <pc:chgData name="Harshini Madasu" userId="d18c94f727419cfa" providerId="LiveId" clId="{BD3FDC07-9796-47DB-BDD4-0EEB27313D23}" dt="2026-06-17T06:18:44.730" v="10" actId="20577"/>
        <pc:sldMkLst>
          <pc:docMk/>
          <pc:sldMk cId="669697286" sldId="260"/>
        </pc:sldMkLst>
        <pc:spChg chg="mod">
          <ac:chgData name="Harshini Madasu" userId="d18c94f727419cfa" providerId="LiveId" clId="{BD3FDC07-9796-47DB-BDD4-0EEB27313D23}" dt="2026-06-17T06:18:44.730" v="10" actId="20577"/>
          <ac:spMkLst>
            <pc:docMk/>
            <pc:sldMk cId="669697286" sldId="260"/>
            <ac:spMk id="3" creationId="{1CD9D078-D61E-42DD-FC1B-8F6916760D25}"/>
          </ac:spMkLst>
        </pc:spChg>
      </pc:sldChg>
      <pc:sldChg chg="modSp mod">
        <pc:chgData name="Harshini Madasu" userId="d18c94f727419cfa" providerId="LiveId" clId="{BD3FDC07-9796-47DB-BDD4-0EEB27313D23}" dt="2026-06-17T06:17:41.579" v="0" actId="1076"/>
        <pc:sldMkLst>
          <pc:docMk/>
          <pc:sldMk cId="67776643" sldId="262"/>
        </pc:sldMkLst>
        <pc:graphicFrameChg chg="mod">
          <ac:chgData name="Harshini Madasu" userId="d18c94f727419cfa" providerId="LiveId" clId="{BD3FDC07-9796-47DB-BDD4-0EEB27313D23}" dt="2026-06-17T06:17:41.579" v="0" actId="1076"/>
          <ac:graphicFrameMkLst>
            <pc:docMk/>
            <pc:sldMk cId="67776643" sldId="262"/>
            <ac:graphicFrameMk id="4" creationId="{BED82D33-25A9-F6AE-BD3D-D38B58DCA9FF}"/>
          </ac:graphicFrameMkLst>
        </pc:graphicFrameChg>
      </pc:sldChg>
      <pc:sldChg chg="modSp mod">
        <pc:chgData name="Harshini Madasu" userId="d18c94f727419cfa" providerId="LiveId" clId="{BD3FDC07-9796-47DB-BDD4-0EEB27313D23}" dt="2026-06-17T06:18:22.957" v="4" actId="20577"/>
        <pc:sldMkLst>
          <pc:docMk/>
          <pc:sldMk cId="1871352591" sldId="265"/>
        </pc:sldMkLst>
        <pc:spChg chg="mod">
          <ac:chgData name="Harshini Madasu" userId="d18c94f727419cfa" providerId="LiveId" clId="{BD3FDC07-9796-47DB-BDD4-0EEB27313D23}" dt="2026-06-17T06:18:22.957" v="4" actId="20577"/>
          <ac:spMkLst>
            <pc:docMk/>
            <pc:sldMk cId="1871352591" sldId="265"/>
            <ac:spMk id="3" creationId="{D0E55EC6-DFD8-42B3-02C6-98DC980DB5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E484-7C5C-A8A9-3359-ECE82FE27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2AE21-B55A-6211-4F60-66EAF0CD0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48030-36E4-ED08-C973-514733AA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95E67-0B94-D7B4-8462-54D32D14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6F686-2E88-EC82-42DA-EF3513B4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11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C44C-0D9A-A785-990D-225F1931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9D7AF-B24F-1D95-7EC9-01169EE1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B99F0-4D4A-B081-87B4-2B833808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1F704-2F47-2113-2CA0-18E2D85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F58E7-9CC5-D9DE-3BE4-B03111F6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85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AB84-86CD-2A89-57F0-95D472B4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03255-66B9-CE7F-D5B4-18C712C33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CB4DD-ED67-B399-2EC8-C06DA881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393EA-9764-85A3-EF18-EEC274EC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B1A7E-1FAD-DE38-A73E-725B0425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B01F-6666-37CC-DBDF-C791DBB5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7D560-D054-E11D-968F-785C4CEF5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AA80A-33F4-FB4B-5F40-EEDE635A8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10F2C-5BE4-F9C2-E2DA-1B789BDD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FBF60-9E0C-B18B-3080-24A5DA8A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0288F-C1AA-977D-077A-9C814E07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73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B042-F1D3-7101-FDEA-1AC9C0A1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7E478-DA05-1430-9572-590106581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199C3-103A-58CF-897C-5A895484E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287AC-58E2-2DD9-C55B-9B33313E8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1840B-5A13-C02C-CFC9-B7606600D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1E72B-43FF-7FC1-C4F1-DD7C24AD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67E91-934A-63AF-B4BF-D7705EE3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E2668-B225-1415-C4DC-2AC6826F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1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FE80-8A47-543A-378F-BE8DFEE9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11D37-3ADF-29DD-0BD0-276EA16B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3671B-1076-7D10-3DF9-367054C1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23895-622B-59E5-71F6-EDF8B460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9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5DCA6-D42A-B1ED-086D-E7016DAC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0246C-B906-8CAC-5FF1-5688987F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735C2-70D4-4E08-0AB0-D3B4C176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70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8FAA-6581-DDE2-BA63-4CECA4F4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4F3A-C788-14A0-5FD8-0253FCFF2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0BB9F-67DF-B21A-D712-DF23003F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AAE4E-525B-4CCF-EE99-FBACEDAD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83824-BA72-108D-F283-A4314DAA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7AE1E-10E3-EBB2-2BD8-8B99417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12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CD18-66F1-8AF4-50EA-DA40E2D2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97C72-3C11-89BA-2ECA-585061467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B8775-5CE5-DECB-932B-1194EDD3B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44FBD-CA28-2992-655E-F3108861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15E67-ECEE-CF74-E8E5-7A6C4B9B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44940-12AE-7139-BBF4-26B2369D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062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D955-41D5-FEA7-4CDD-637D8592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F4A59-C622-EBC3-4E51-6C0506064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15F28-959D-8A4F-E953-D07ECF3C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B0C63-0762-BD2E-315D-CD8113E2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E86B7-EDE1-FCD0-30C8-AE5DA7DA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6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A43B9-2F8E-A67E-981F-39D84478B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18E9D-71B7-6105-47A6-DB3D67A3B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1AF11-8E57-ABFD-C2CB-3E1BD276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BE0C9-B319-25FA-2552-FC792AD8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C1BEB-5C99-A8DD-F86D-F63281F2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3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84485-8E0E-F613-1375-A30AAFF01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09BE3-36BE-3F83-E4ED-E02390D04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CEA00-C191-3E5C-25E4-6F1545E78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DF158-EB3B-4E50-9E86-6367EE596D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4D66E-B60F-B3B3-DDE1-622A12209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9F5DF-36FE-0290-C429-07DAF8310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C6015-E709-4C6D-9827-8062BC7EF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6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C92F-0DCE-0496-4710-0C766B962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48639"/>
            <a:ext cx="12192000" cy="2880361"/>
          </a:xfrm>
        </p:spPr>
        <p:txBody>
          <a:bodyPr>
            <a:noAutofit/>
          </a:bodyPr>
          <a:lstStyle/>
          <a:p>
            <a:r>
              <a:rPr lang="en-IN" sz="5400" dirty="0"/>
              <a:t>CREDIT CARD FRAUD DETECTION</a:t>
            </a:r>
            <a:br>
              <a:rPr lang="en-IN" sz="5400" dirty="0"/>
            </a:br>
            <a:r>
              <a:rPr lang="en-IN" sz="5400" dirty="0"/>
              <a:t> USING MACHINE LEARNING</a:t>
            </a:r>
            <a:br>
              <a:rPr lang="en-IN" sz="5400" dirty="0"/>
            </a:br>
            <a:br>
              <a:rPr lang="en-IN" sz="5400" dirty="0"/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69B2A-1740-F8C4-1928-31217E7E4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" y="2959511"/>
            <a:ext cx="4302596" cy="1986116"/>
          </a:xfrm>
        </p:spPr>
        <p:txBody>
          <a:bodyPr>
            <a:normAutofit/>
          </a:bodyPr>
          <a:lstStyle/>
          <a:p>
            <a:r>
              <a:rPr lang="en-IN" sz="2800" dirty="0"/>
              <a:t>Internship Project Report</a:t>
            </a:r>
          </a:p>
          <a:p>
            <a:r>
              <a:rPr lang="en-IN" sz="2800" dirty="0"/>
              <a:t>Presented by : </a:t>
            </a:r>
          </a:p>
          <a:p>
            <a:r>
              <a:rPr lang="en-IN" sz="2800" dirty="0"/>
              <a:t>Madasu Harshini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DDF1B-5A5D-23B4-9D1A-3746E1E8A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760" y="2293619"/>
            <a:ext cx="7162800" cy="401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5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BDD5-D094-C5FC-2ABB-128B0AED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679"/>
            <a:ext cx="10515600" cy="1797368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389F4-5198-24B3-ABA7-BD2DFBB5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166360"/>
          </a:xfrm>
        </p:spPr>
        <p:txBody>
          <a:bodyPr>
            <a:normAutofit/>
          </a:bodyPr>
          <a:lstStyle/>
          <a:p>
            <a:r>
              <a:rPr lang="en-IN" dirty="0"/>
              <a:t>Credit card fraud is a growing problem in digital banking and online payments.</a:t>
            </a:r>
          </a:p>
          <a:p>
            <a:r>
              <a:rPr lang="en-IN" dirty="0"/>
              <a:t>Detecting fraudulent transactions manually is difficult due to the large volume of transactions.</a:t>
            </a:r>
          </a:p>
          <a:p>
            <a:r>
              <a:rPr lang="en-IN" dirty="0"/>
              <a:t>Machine Learning helps identify suspicious activities automatically.</a:t>
            </a:r>
          </a:p>
          <a:p>
            <a:r>
              <a:rPr lang="en-IN" dirty="0"/>
              <a:t>This project builds a model to classify transactions as genuine or fraudulent.</a:t>
            </a:r>
          </a:p>
          <a:p>
            <a:r>
              <a:rPr lang="en-IN" dirty="0"/>
              <a:t>The goal is to improve transaction security and minimize financial losses.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38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1CD1-FDD2-85F7-A79D-89978198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3"/>
            <a:ext cx="10515600" cy="1268361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Problem statement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1A12D-6F5F-8EE7-A07E-C6D1504C4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b="1" dirty="0"/>
              <a:t>Problem Statement :</a:t>
            </a:r>
            <a:endParaRPr lang="en-IN" sz="11200" dirty="0"/>
          </a:p>
          <a:p>
            <a:r>
              <a:rPr lang="en-IN" sz="11200" dirty="0"/>
              <a:t>Increasing online transactions have led to more credit card fraud cases.</a:t>
            </a:r>
          </a:p>
          <a:p>
            <a:r>
              <a:rPr lang="en-IN" sz="11200" dirty="0"/>
              <a:t>Manual detection is difficult and time-consuming.</a:t>
            </a:r>
          </a:p>
          <a:p>
            <a:r>
              <a:rPr lang="en-IN" sz="11200" dirty="0"/>
              <a:t>Need an automated system to identify fraudulent transactions accurately.</a:t>
            </a:r>
          </a:p>
          <a:p>
            <a:pPr marL="0" indent="0">
              <a:buNone/>
            </a:pPr>
            <a:r>
              <a:rPr lang="en-IN" sz="11200" b="1" dirty="0"/>
              <a:t>Objectives :</a:t>
            </a:r>
            <a:endParaRPr lang="en-IN" sz="11200" dirty="0"/>
          </a:p>
          <a:p>
            <a:r>
              <a:rPr lang="en-IN" sz="11200" dirty="0"/>
              <a:t>Detect fraudulent credit card transactions.</a:t>
            </a:r>
          </a:p>
          <a:p>
            <a:r>
              <a:rPr lang="en-IN" sz="11200" dirty="0"/>
              <a:t>Analyse transaction patterns using Machine Learning.</a:t>
            </a:r>
          </a:p>
          <a:p>
            <a:r>
              <a:rPr lang="en-IN" sz="11200" dirty="0"/>
              <a:t>Improve fraud detection accuracy.</a:t>
            </a:r>
          </a:p>
          <a:p>
            <a:r>
              <a:rPr lang="en-IN" sz="11200" dirty="0"/>
              <a:t>Reduce financial losses.</a:t>
            </a:r>
          </a:p>
          <a:p>
            <a:r>
              <a:rPr lang="en-IN" sz="11200" dirty="0"/>
              <a:t>Enhance payment security.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36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F35A-1867-0D14-6796-FC0F24F9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81781"/>
            <a:ext cx="10515600" cy="217246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8A7BEA-5FA7-50C2-AFAB-8D6B9C3848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347600"/>
              </p:ext>
            </p:extLst>
          </p:nvPr>
        </p:nvGraphicFramePr>
        <p:xfrm>
          <a:off x="356419" y="3725570"/>
          <a:ext cx="5070987" cy="230832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05785">
                  <a:extLst>
                    <a:ext uri="{9D8B030D-6E8A-4147-A177-3AD203B41FA5}">
                      <a16:colId xmlns:a16="http://schemas.microsoft.com/office/drawing/2014/main" val="878573852"/>
                    </a:ext>
                  </a:extLst>
                </a:gridCol>
                <a:gridCol w="2565202">
                  <a:extLst>
                    <a:ext uri="{9D8B030D-6E8A-4147-A177-3AD203B41FA5}">
                      <a16:colId xmlns:a16="http://schemas.microsoft.com/office/drawing/2014/main" val="875680929"/>
                    </a:ext>
                  </a:extLst>
                </a:gridCol>
              </a:tblGrid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978121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284,807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669150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360864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Target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283758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Fraud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843284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Genuine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284,315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7756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47713D-1364-5B10-F070-63DDD8BF8E6B}"/>
              </a:ext>
            </a:extLst>
          </p:cNvPr>
          <p:cNvSpPr txBox="1"/>
          <p:nvPr/>
        </p:nvSpPr>
        <p:spPr>
          <a:xfrm>
            <a:off x="117987" y="1553101"/>
            <a:ext cx="66072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Class Labels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Class 0 → Genuine Transaction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Class 1 → Fraud Transaction 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Dataset Information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884A12-EE81-2B32-FF36-C0D56E6DA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768" y="1415845"/>
            <a:ext cx="6282813" cy="2529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00BFF6-9F02-A3E5-BEBB-4BE380BC8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767" y="4082247"/>
            <a:ext cx="6282813" cy="251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6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323A-7346-6738-78F2-B264CCFC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99534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D078-D61E-42DD-FC1B-8F6916760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600" b="1" dirty="0"/>
              <a:t>Software :</a:t>
            </a:r>
          </a:p>
          <a:p>
            <a:r>
              <a:rPr lang="en-IN" sz="3600" dirty="0"/>
              <a:t>Visual Studio Code </a:t>
            </a:r>
          </a:p>
          <a:p>
            <a:r>
              <a:rPr lang="en-IN" sz="3600" dirty="0"/>
              <a:t>Python 3.10 </a:t>
            </a:r>
          </a:p>
          <a:p>
            <a:pPr marL="0" indent="0">
              <a:buNone/>
            </a:pPr>
            <a:r>
              <a:rPr lang="en-IN" sz="3600" b="1" dirty="0"/>
              <a:t>Libraries :</a:t>
            </a:r>
          </a:p>
          <a:p>
            <a:r>
              <a:rPr lang="en-IN" sz="3600" dirty="0"/>
              <a:t>Pandas </a:t>
            </a:r>
          </a:p>
          <a:p>
            <a:r>
              <a:rPr lang="en-IN" sz="3600" dirty="0"/>
              <a:t>NumPy </a:t>
            </a:r>
          </a:p>
          <a:p>
            <a:r>
              <a:rPr lang="en-IN" sz="3600" dirty="0"/>
              <a:t>Matplotlib </a:t>
            </a:r>
          </a:p>
          <a:p>
            <a:r>
              <a:rPr lang="en-IN" sz="3600" dirty="0"/>
              <a:t>Seaborn </a:t>
            </a:r>
          </a:p>
          <a:p>
            <a:r>
              <a:rPr lang="en-IN" sz="3600" dirty="0"/>
              <a:t>Scikit-Learn </a:t>
            </a:r>
          </a:p>
          <a:p>
            <a:pPr marL="0" indent="0">
              <a:buNone/>
            </a:pPr>
            <a:r>
              <a:rPr lang="en-IN" sz="3600" b="1" dirty="0"/>
              <a:t>Machine Learning Algorithm :</a:t>
            </a:r>
          </a:p>
          <a:p>
            <a:r>
              <a:rPr lang="en-IN" sz="3600" dirty="0"/>
              <a:t>Random Forest Classifier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69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3C2A-18B7-EDDD-A401-07582D36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87"/>
            <a:ext cx="10515600" cy="48968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0146-462D-5F90-5B32-3F4E528C6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7252"/>
            <a:ext cx="10783529" cy="550307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400" dirty="0"/>
              <a:t> Dataset Collection</a:t>
            </a:r>
          </a:p>
          <a:p>
            <a:pPr marL="0" indent="0" algn="ctr">
              <a:buNone/>
            </a:pPr>
            <a:r>
              <a:rPr lang="en-IN" sz="2400" dirty="0"/>
              <a:t>↓</a:t>
            </a:r>
          </a:p>
          <a:p>
            <a:pPr marL="0" indent="0" algn="ctr">
              <a:buNone/>
            </a:pPr>
            <a:r>
              <a:rPr lang="en-IN" sz="2400" dirty="0"/>
              <a:t>Data Preprocessing</a:t>
            </a:r>
          </a:p>
          <a:p>
            <a:pPr marL="0" indent="0" algn="ctr">
              <a:buNone/>
            </a:pPr>
            <a:r>
              <a:rPr lang="en-IN" sz="2400" dirty="0"/>
              <a:t> ↓</a:t>
            </a:r>
          </a:p>
          <a:p>
            <a:pPr marL="0" indent="0" algn="ctr">
              <a:buNone/>
            </a:pPr>
            <a:r>
              <a:rPr lang="en-IN" sz="2400" dirty="0"/>
              <a:t>    Exploratory Data Analysis</a:t>
            </a:r>
          </a:p>
          <a:p>
            <a:pPr marL="0" indent="0" algn="ctr">
              <a:buNone/>
            </a:pPr>
            <a:r>
              <a:rPr lang="en-IN" sz="2400" dirty="0"/>
              <a:t> ↓</a:t>
            </a:r>
          </a:p>
          <a:p>
            <a:pPr marL="0" indent="0" algn="ctr">
              <a:buNone/>
            </a:pPr>
            <a:r>
              <a:rPr lang="en-IN" sz="2400" dirty="0"/>
              <a:t>Train-Test Split</a:t>
            </a:r>
          </a:p>
          <a:p>
            <a:pPr marL="0" indent="0" algn="ctr">
              <a:buNone/>
            </a:pPr>
            <a:r>
              <a:rPr lang="en-IN" sz="2400" dirty="0"/>
              <a:t> ↓</a:t>
            </a:r>
          </a:p>
          <a:p>
            <a:pPr marL="0" indent="0" algn="ctr">
              <a:buNone/>
            </a:pPr>
            <a:r>
              <a:rPr lang="en-IN" sz="2400" dirty="0"/>
              <a:t>       Random Forest Training</a:t>
            </a:r>
          </a:p>
          <a:p>
            <a:pPr marL="0" indent="0" algn="ctr">
              <a:buNone/>
            </a:pPr>
            <a:r>
              <a:rPr lang="en-IN" sz="2400" dirty="0"/>
              <a:t>  ↓</a:t>
            </a:r>
          </a:p>
          <a:p>
            <a:pPr marL="0" indent="0" algn="ctr">
              <a:buNone/>
            </a:pPr>
            <a:r>
              <a:rPr lang="en-IN" sz="2400" dirty="0"/>
              <a:t>    Prediction</a:t>
            </a:r>
          </a:p>
          <a:p>
            <a:pPr marL="0" indent="0" algn="ctr">
              <a:buNone/>
            </a:pPr>
            <a:r>
              <a:rPr lang="en-IN" sz="2400" dirty="0"/>
              <a:t>   ↓</a:t>
            </a:r>
          </a:p>
          <a:p>
            <a:pPr marL="0" indent="0" algn="ctr">
              <a:buNone/>
            </a:pPr>
            <a:r>
              <a:rPr lang="en-IN" sz="2400" dirty="0"/>
              <a:t>           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396891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00DF-F860-EE27-5A71-49E2EB86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 Analyses and Visualization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D82D33-25A9-F6AE-BD3D-D38B58DCA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757453"/>
              </p:ext>
            </p:extLst>
          </p:nvPr>
        </p:nvGraphicFramePr>
        <p:xfrm>
          <a:off x="443025" y="4780441"/>
          <a:ext cx="4023360" cy="123115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86460214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830628471"/>
                    </a:ext>
                  </a:extLst>
                </a:gridCol>
              </a:tblGrid>
              <a:tr h="499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752301"/>
                  </a:ext>
                </a:extLst>
              </a:tr>
              <a:tr h="197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Genuine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284,315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686090"/>
                  </a:ext>
                </a:extLst>
              </a:tr>
              <a:tr h="197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Fraud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1333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8989A3-2CFE-BFB5-457F-7F0735472DE8}"/>
              </a:ext>
            </a:extLst>
          </p:cNvPr>
          <p:cNvSpPr txBox="1"/>
          <p:nvPr/>
        </p:nvSpPr>
        <p:spPr>
          <a:xfrm>
            <a:off x="205329" y="1461979"/>
            <a:ext cx="475012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Dataset Analysis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 Dataset contains 31 columns.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 No missing values found.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 Dataset is highly imbalanced. </a:t>
            </a:r>
            <a:endParaRPr lang="en-IN" sz="2800" b="1" dirty="0"/>
          </a:p>
          <a:p>
            <a:pPr>
              <a:buNone/>
            </a:pPr>
            <a:r>
              <a:rPr lang="en-IN" sz="2800" b="1" dirty="0"/>
              <a:t>Class Distribution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1D0CE2-BAD6-1405-BF83-4F3094801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080" y="1690688"/>
            <a:ext cx="6918960" cy="451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64D9-98BF-5052-4F51-9FA74591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48696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5F2F5-F9FC-BF3D-1273-C91188FD7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3" y="1337187"/>
            <a:ext cx="5156200" cy="5319252"/>
          </a:xfrm>
        </p:spPr>
        <p:txBody>
          <a:bodyPr>
            <a:normAutofit fontScale="32500" lnSpcReduction="20000"/>
          </a:bodyPr>
          <a:lstStyle/>
          <a:p>
            <a:r>
              <a:rPr lang="en-IN" sz="8600" dirty="0"/>
              <a:t>Preprocess the dataset and selected features.</a:t>
            </a:r>
          </a:p>
          <a:p>
            <a:r>
              <a:rPr lang="en-IN" sz="8600" dirty="0"/>
              <a:t>Split data into training and testing sets.</a:t>
            </a:r>
          </a:p>
          <a:p>
            <a:r>
              <a:rPr lang="en-IN" sz="8600" dirty="0"/>
              <a:t>Trained a Machine Learning classification model.</a:t>
            </a:r>
          </a:p>
          <a:p>
            <a:r>
              <a:rPr lang="en-IN" sz="8600" dirty="0"/>
              <a:t>Learned patterns from historical transaction data.</a:t>
            </a:r>
          </a:p>
          <a:p>
            <a:r>
              <a:rPr lang="en-IN" sz="8600" dirty="0"/>
              <a:t>Evaluated using Accuracy, Precision, Recall, F1-Score, and Confusion Matrix.</a:t>
            </a:r>
          </a:p>
          <a:p>
            <a:r>
              <a:rPr lang="en-IN" sz="8600" dirty="0"/>
              <a:t>Used the trained model to predict fraudulent transactions.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1D46C-F379-3AF8-BE05-A71113D28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303" y="1825625"/>
            <a:ext cx="6420137" cy="416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3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47CD-9869-253D-D6E4-2ED63C9D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1" y="-233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Results and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9C2937-339E-630F-87D6-E3D371E150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487056"/>
              </p:ext>
            </p:extLst>
          </p:nvPr>
        </p:nvGraphicFramePr>
        <p:xfrm>
          <a:off x="317090" y="3627553"/>
          <a:ext cx="4647946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42746">
                  <a:extLst>
                    <a:ext uri="{9D8B030D-6E8A-4147-A177-3AD203B41FA5}">
                      <a16:colId xmlns:a16="http://schemas.microsoft.com/office/drawing/2014/main" val="214786448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664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945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998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95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190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698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4BBBC7-1297-140D-8C1C-D077C40BC5C8}"/>
              </a:ext>
            </a:extLst>
          </p:cNvPr>
          <p:cNvSpPr txBox="1"/>
          <p:nvPr/>
        </p:nvSpPr>
        <p:spPr>
          <a:xfrm>
            <a:off x="530941" y="1082000"/>
            <a:ext cx="42377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Model Accuracy :</a:t>
            </a:r>
          </a:p>
          <a:p>
            <a:pPr>
              <a:buNone/>
            </a:pPr>
            <a:r>
              <a:rPr lang="en-IN" sz="2800" dirty="0"/>
              <a:t>Accuracy = 99.95%</a:t>
            </a:r>
          </a:p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Classification Report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5543CC-8379-4752-4A8B-A4508F628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80" y="4164511"/>
            <a:ext cx="6302478" cy="2328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5148AF-E179-0397-C5AE-094EDB21F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80" y="1425128"/>
            <a:ext cx="6302478" cy="253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16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C4F9-CC09-4CA8-7BC0-234D8E3C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3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5EC6-DFD8-42B3-02C6-98DC980DB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78"/>
            <a:ext cx="10515600" cy="5479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Conclusion :</a:t>
            </a:r>
          </a:p>
          <a:p>
            <a:r>
              <a:rPr lang="en-IN" dirty="0"/>
              <a:t>Successfully developed a Credit Card Fraud Detection System. </a:t>
            </a:r>
          </a:p>
          <a:p>
            <a:r>
              <a:rPr lang="en-IN" dirty="0"/>
              <a:t>Random Forest model achieved 99.95% accuracy. </a:t>
            </a:r>
          </a:p>
          <a:p>
            <a:r>
              <a:rPr lang="en-IN" dirty="0"/>
              <a:t>Fraudulent transactions were detected effectively. </a:t>
            </a:r>
          </a:p>
          <a:p>
            <a:r>
              <a:rPr lang="en-IN" dirty="0"/>
              <a:t>Machine Learning can improve financial transaction security. </a:t>
            </a:r>
          </a:p>
          <a:p>
            <a:pPr marL="0" indent="0">
              <a:buNone/>
            </a:pPr>
            <a:r>
              <a:rPr lang="en-IN" b="1" dirty="0"/>
              <a:t>Future Scope :</a:t>
            </a:r>
          </a:p>
          <a:p>
            <a:r>
              <a:rPr lang="en-IN" dirty="0"/>
              <a:t>Real-time fraud detection </a:t>
            </a:r>
          </a:p>
          <a:p>
            <a:r>
              <a:rPr lang="en-IN" dirty="0"/>
              <a:t>Deep learning implementation </a:t>
            </a:r>
          </a:p>
          <a:p>
            <a:r>
              <a:rPr lang="en-IN" dirty="0"/>
              <a:t>Web application deployment </a:t>
            </a:r>
          </a:p>
          <a:p>
            <a:r>
              <a:rPr lang="en-IN" dirty="0"/>
              <a:t>Integration with banking systems </a:t>
            </a:r>
          </a:p>
        </p:txBody>
      </p:sp>
    </p:spTree>
    <p:extLst>
      <p:ext uri="{BB962C8B-B14F-4D97-AF65-F5344CB8AC3E}">
        <p14:creationId xmlns:p14="http://schemas.microsoft.com/office/powerpoint/2010/main" val="1871352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90AF-2086-D772-5CF2-CFB9CFF48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595437"/>
            <a:ext cx="70104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410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CREDIT CARD FRAUD DETECTION  USING MACHINE LEARNING  </vt:lpstr>
      <vt:lpstr>Introduction</vt:lpstr>
      <vt:lpstr>Problem statement and Objectives</vt:lpstr>
      <vt:lpstr>Data Description</vt:lpstr>
      <vt:lpstr>Tools and Technologies Used</vt:lpstr>
      <vt:lpstr>Methodology</vt:lpstr>
      <vt:lpstr>Data Analyses and Visualization</vt:lpstr>
      <vt:lpstr>Model Training</vt:lpstr>
      <vt:lpstr>Results and Performance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Harshini Madasu</dc:creator>
  <cp:lastModifiedBy>Harshini Madasu</cp:lastModifiedBy>
  <cp:revision>2</cp:revision>
  <dcterms:created xsi:type="dcterms:W3CDTF">2026-06-15T16:03:35Z</dcterms:created>
  <dcterms:modified xsi:type="dcterms:W3CDTF">2026-06-17T06:18:55Z</dcterms:modified>
</cp:coreProperties>
</file>